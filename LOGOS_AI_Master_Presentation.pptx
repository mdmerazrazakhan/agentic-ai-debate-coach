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Segoe UI"/>
              </a:defRPr>
            </a:pPr>
            <a:r>
              <a:t>LOGOS.AI  •  AUTONOMOUS SCRIPT &amp; SPEECH INTELLIGENCE</a:t>
            </a:r>
          </a:p>
          <a:p>
            <a:pPr>
              <a:spcBef>
                <a:spcPts val="800"/>
              </a:spcBef>
              <a:defRPr sz="5400" b="1">
                <a:solidFill>
                  <a:srgbClr val="F8FAFC"/>
                </a:solidFill>
                <a:latin typeface="Segoe UI"/>
              </a:defRPr>
            </a:pPr>
            <a:r>
              <a:t>LOGOS.AI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Segoe UI"/>
              </a:defRPr>
            </a:pPr>
            <a:r>
              <a:t>Agentic AI Debate Coach &amp; Speech Analytics Platform</a:t>
            </a:r>
          </a:p>
          <a:p>
            <a:pPr>
              <a:spcBef>
                <a:spcPts val="14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“From Passive Information Retrieval to Active Socratic Cross-Examination and Vocal Mastery”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AUTHOR &amp; DEVELOPER: Md Meraz Raza Khan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TECHNOLOGIES: Python FastAPI  •  Next.js 14 App Router  •  Groq &amp; Gemini LLM Engine  •  PostgreSQL &amp; MongoDB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PROBLEM STATEMENT &amp; MOTIVATION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Rhetorical Training Dilemma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Why traditional debate training and conventional conversational AI fall short.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E11D48"/>
                </a:solidFill>
              </a:defRPr>
            </a:pPr>
            <a:r>
              <a:t>THE REHEARSAL BOTTLENECK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Mirror Rehearsals Lack Friction: </a:t>
            </a:r>
            <a:r>
              <a:rPr sz="1100">
                <a:solidFill>
                  <a:srgbClr val="94A3B8"/>
                </a:solidFill>
              </a:rPr>
              <a:t>Speakers practice in isolation without adaptive adversarial pressure or authentic rebuttal challenge.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Undetected Fallacy Traps: </a:t>
            </a:r>
            <a:r>
              <a:rPr sz="1100">
                <a:solidFill>
                  <a:srgbClr val="94A3B8"/>
                </a:solidFill>
              </a:rPr>
              <a:t>Subtle logical errors (Ad Hominem, Straw Man, False Dilemma) go unflagged until actual competition judging.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Prosody Disconnect: </a:t>
            </a:r>
            <a:r>
              <a:rPr sz="1100">
                <a:solidFill>
                  <a:srgbClr val="94A3B8"/>
                </a:solidFill>
              </a:rPr>
              <a:t>Pacing speed, hesitation pauses ('um', 'ah'), and vocal confidence cannot be calibrated through flat text.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Conventional AI Agreeableness: </a:t>
            </a:r>
            <a:r>
              <a:rPr sz="1100">
                <a:solidFill>
                  <a:srgbClr val="94A3B8"/>
                </a:solidFill>
              </a:rPr>
              <a:t>Standard LLMs (ChatGPT) are designed to agree and validate, failing to challenge logic like a genuine debate judge.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THE LOGOS.AI SOLUTION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Agentic Adversarial Personas: </a:t>
            </a:r>
            <a:r>
              <a:rPr sz="1100">
                <a:solidFill>
                  <a:srgbClr val="94A3B8"/>
                </a:solidFill>
              </a:rPr>
              <a:t>Multi-persona sparring partners (The Contrarian, The Academic) that expose flaws with human-like rigor.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Instant Logical Fallacy Shield: </a:t>
            </a:r>
            <a:r>
              <a:rPr sz="1100">
                <a:solidFill>
                  <a:srgbClr val="94A3B8"/>
                </a:solidFill>
              </a:rPr>
              <a:t>Real-time auditing against 8 canonical fallacy schemas with pinpoint corrective guidance.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Multi-Modal Speech Prosody: </a:t>
            </a:r>
            <a:r>
              <a:rPr sz="1100">
                <a:solidFill>
                  <a:srgbClr val="94A3B8"/>
                </a:solidFill>
              </a:rPr>
              <a:t>Browser-side speech acoustic analysis measuring cadence (target 130-150 WPM) and filler word count.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• Comprehensive Actionable Loop: </a:t>
            </a:r>
            <a:r>
              <a:rPr sz="1100">
                <a:solidFill>
                  <a:srgbClr val="94A3B8"/>
                </a:solidFill>
              </a:rPr>
              <a:t>End-to-end telemetry combining automated coaching plans, rubric scoring, and transcript archiving.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PROJECT OBJECTIVES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Core Architectural Pillars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Three foundational pillars powering adaptive debate coaching and speech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PILLAR 01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Socratic Simulation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Adversarial Personas
</a:t>
            </a:r>
            <a:r>
              <a:rPr sz="1000">
                <a:solidFill>
                  <a:srgbClr val="94A3B8"/>
                </a:solidFill>
              </a:rPr>
              <a:t>Contrarian, Academic, and Pragmatist agents with distinct debating styles.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Typewriter Terminal
</a:t>
            </a:r>
            <a:r>
              <a:rPr sz="1000">
                <a:solidFill>
                  <a:srgbClr val="94A3B8"/>
                </a:solidFill>
              </a:rPr>
              <a:t>Character-by-character live streaming rebuttal replicating real human conversational cadence.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Stateful Multi-Turn
</a:t>
            </a:r>
            <a:r>
              <a:rPr sz="1000">
                <a:solidFill>
                  <a:srgbClr val="94A3B8"/>
                </a:solidFill>
              </a:rPr>
              <a:t>Preserves debate cross-examination history across deep dialectic 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3832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PILLAR 02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Fallacy &amp; Logic Guard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8 Fallacy Detectors
</a:t>
            </a:r>
            <a:r>
              <a:rPr sz="1000">
                <a:solidFill>
                  <a:srgbClr val="94A3B8"/>
                </a:solidFill>
              </a:rPr>
              <a:t>Identifies Ad Hominem, Straw Man, Slippery Slope, False Dilemma, and more.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Real-time Alert Badges
</a:t>
            </a:r>
            <a:r>
              <a:rPr sz="1000">
                <a:solidFill>
                  <a:srgbClr val="94A3B8"/>
                </a:solidFill>
              </a:rPr>
              <a:t>Visual badges instantly indicating flaw severity and impact on rebuttal power.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Remediation Tips
</a:t>
            </a:r>
            <a:r>
              <a:rPr sz="1000">
                <a:solidFill>
                  <a:srgbClr val="94A3B8"/>
                </a:solidFill>
              </a:rPr>
              <a:t>Contextual recommendations on how to counter-rebut without losing ground.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3832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PILLAR 03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Acoustic Prosody &amp; LMS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WPM Cadence Tracking
</a:t>
            </a:r>
            <a:r>
              <a:rPr sz="1000">
                <a:solidFill>
                  <a:srgbClr val="94A3B8"/>
                </a:solidFill>
              </a:rPr>
              <a:t>Calibrates speech speed against optimal debate benchmarks (130-150 WPM).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Filler Word Filtering
</a:t>
            </a:r>
            <a:r>
              <a:rPr sz="1000">
                <a:solidFill>
                  <a:srgbClr val="94A3B8"/>
                </a:solidFill>
              </a:rPr>
              <a:t>Identifies verbal crutches ('um', 'uh', 'like') with density penalty score.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8FAFC"/>
                </a:solidFill>
              </a:rPr>
              <a:t>✔ Role-Based LMS Roster
</a:t>
            </a:r>
            <a:r>
              <a:rPr sz="1000">
                <a:solidFill>
                  <a:srgbClr val="94A3B8"/>
                </a:solidFill>
              </a:rPr>
              <a:t>Full multi-role suites for Learners, Coaches, Educators, and Admins.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CORE RHETORIC PHILOSOPHY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Socratic Cross-Examination Loop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unstructured debate arguments into rigorous dialectic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237744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01. INGESTION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Premise Isolation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User voice or text transcript is parsed into core claim, evidence, and logical warrants.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237744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11D48"/>
                </a:solidFill>
              </a:defRPr>
            </a:pPr>
            <a:r>
              <a:t>02. AUDITING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Fallacy Detection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Agentic heuristic and LLM engines screen for 8 canonical fallacies with severity ratings.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237744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03. REBUTTAL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Adversarial Persona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Persona agent (e.g. The Contrarian) generates targeted cross-examination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237744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11D48"/>
                </a:solidFill>
              </a:defRPr>
            </a:pPr>
            <a:r>
              <a:t>04. COACHING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Dialectic Synthesis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Actionable coaching recommendations guide user to shore up vulnerable premises.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CANONICAL FALLACY TAXONOMY AUDITED IN REAL TIME: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1. Ad Hominem (Personal attack)      2. Straw Man (Distorting opponent's stance)</a:t>
            </a:r>
            <a:br/>
            <a:r>
              <a:t>3. False Dilemma (Black-and-white)   4. Slippery Slope (Unwarranted chain reactions)</a:t>
            </a:r>
            <a:br/>
            <a:r>
              <a:t>5. Circular Reasoning (Begging Q)    6. Appeal to Emotion (Subbing feelings for logic)</a:t>
            </a:r>
            <a:br/>
            <a:r>
              <a:t>7. Red Herring (Irrelevant detour)   8. Hasty Generalization (Insufficient sample size)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SYSTEM IMPLEMENTATION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Production Tech Stack &amp;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Built for high concurrency, ultra-low latency inference, and resilient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FRONTEND TIER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Next.js 14 App Router
</a:t>
            </a:r>
            <a:r>
              <a:rPr sz="950">
                <a:solidFill>
                  <a:srgbClr val="94A3B8"/>
                </a:solidFill>
              </a:rPr>
              <a:t>Server-side rendering &amp; static generation.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React &amp; Tailwind CSS
</a:t>
            </a:r>
            <a:r>
              <a:rPr sz="950">
                <a:solidFill>
                  <a:srgbClr val="94A3B8"/>
                </a:solidFill>
              </a:rPr>
              <a:t>Dark obsidian aesthetic with 0-radius corners.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Web Audio API
</a:t>
            </a:r>
            <a:r>
              <a:rPr sz="950">
                <a:solidFill>
                  <a:srgbClr val="94A3B8"/>
                </a:solidFill>
              </a:rPr>
              <a:t>Real-time client microphone audio streaming.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JWT Auth Interceptors
</a:t>
            </a:r>
            <a:r>
              <a:rPr sz="950">
                <a:solidFill>
                  <a:srgbClr val="94A3B8"/>
                </a:solidFill>
              </a:rPr>
              <a:t>Role-gated security headers on all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BACKEND SERVICES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FastAPI (Python 3.13)
</a:t>
            </a:r>
            <a:r>
              <a:rPr sz="950">
                <a:solidFill>
                  <a:srgbClr val="94A3B8"/>
                </a:solidFill>
              </a:rPr>
              <a:t>Asynchronous, non-blocking REST gateway.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Pydantic V2 Models
</a:t>
            </a:r>
            <a:r>
              <a:rPr sz="950">
                <a:solidFill>
                  <a:srgbClr val="94A3B8"/>
                </a:solidFill>
              </a:rPr>
              <a:t>Rigid runtime payload validation and typing.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Uvicorn Daemon
</a:t>
            </a:r>
            <a:r>
              <a:rPr sz="950">
                <a:solidFill>
                  <a:srgbClr val="94A3B8"/>
                </a:solidFill>
              </a:rPr>
              <a:t>Multi-worker ASGI server listening on 0.0.0.0.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CORS Security Guard
</a:t>
            </a:r>
            <a:r>
              <a:rPr sz="950">
                <a:solidFill>
                  <a:srgbClr val="94A3B8"/>
                </a:solidFill>
              </a:rPr>
              <a:t>Multi-origin allowed headers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A855F7"/>
                </a:solidFill>
              </a:defRPr>
            </a:pPr>
            <a:r>
              <a:t>AGENTIC AI ENGINE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Groq Cloud Hardware
</a:t>
            </a:r>
            <a:r>
              <a:rPr sz="950">
                <a:solidFill>
                  <a:srgbClr val="94A3B8"/>
                </a:solidFill>
              </a:rPr>
              <a:t>Ultra-fast inference (&lt;450ms) for live turns.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Google Gemini 1.5/2.0
</a:t>
            </a:r>
            <a:r>
              <a:rPr sz="950">
                <a:solidFill>
                  <a:srgbClr val="94A3B8"/>
                </a:solidFill>
              </a:rPr>
              <a:t>Resilient high-capacity fallback pipeline.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Socratic Prompt Tuning
</a:t>
            </a:r>
            <a:r>
              <a:rPr sz="950">
                <a:solidFill>
                  <a:srgbClr val="94A3B8"/>
                </a:solidFill>
              </a:rPr>
              <a:t>Constrained adversarial personas.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Multi-Agent Isolation
</a:t>
            </a:r>
            <a:r>
              <a:rPr sz="950">
                <a:solidFill>
                  <a:srgbClr val="94A3B8"/>
                </a:solidFill>
              </a:rPr>
              <a:t>Discrete analysis vs rebuttal agents.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PERSISTENCE TIER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PostgreSQL / SQLite
</a:t>
            </a:r>
            <a:r>
              <a:rPr sz="950">
                <a:solidFill>
                  <a:srgbClr val="94A3B8"/>
                </a:solidFill>
              </a:rPr>
              <a:t>Relational ACID storage for rosters &amp; rubrics.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SQLAlchemy 2.0 ORM
</a:t>
            </a:r>
            <a:r>
              <a:rPr sz="950">
                <a:solidFill>
                  <a:srgbClr val="94A3B8"/>
                </a:solidFill>
              </a:rPr>
              <a:t>Structured schema mappings and queries.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MongoDB Transcripts
</a:t>
            </a:r>
            <a:r>
              <a:rPr sz="950">
                <a:solidFill>
                  <a:srgbClr val="94A3B8"/>
                </a:solidFill>
              </a:rPr>
              <a:t>High-throughput document store for turns.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ReportLab PDF Engine
</a:t>
            </a:r>
            <a:r>
              <a:rPr sz="950">
                <a:solidFill>
                  <a:srgbClr val="94A3B8"/>
                </a:solidFill>
              </a:rPr>
              <a:t>Automated executive report generation.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AUTONOMOUS AI ARCHITECTURE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Multi-Agent Orchestration Workflow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Decoupled specialized agents working concurrently to evaluate and counter debate arguments.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AGENT 01: ARGUMENT ANALYSIS AGENT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Deconstructs raw user input into proposition logic, evaluating evidence quality and premise coherence before rebuttal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44368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54096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AGENT 02: FALLACY DETECTION AGENT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Runs dual-stage semantic pattern recognition and zero-shot reasoning to trap logic defects and assign confidence percentages.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59936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9664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A855F7"/>
                </a:solidFill>
              </a:defRPr>
            </a:pPr>
            <a:r>
              <a:t>AGENT 03: SOCRATIC OPPONENT AGENT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Maintains adversarial posture across designated debate personas ('The Contrarian', 'The Academic') generating targeted counter-arguments.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75504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8523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AGENT 04: PEDAGOGICAL COACH AGENT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Aggregates round telemetry, calculates rebuttal effectiveness scores, and produces personalized drills to close skill gaps.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ACOUSTIC INTELLIGENCE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Speech Prosody &amp; Delivery Analytics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Quantifying speaking cadence, filler word density, and vocal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205740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PACING &amp; CADENCE</a:t>
            </a:r>
          </a:p>
          <a:p>
            <a:pPr>
              <a:spcBef>
                <a:spcPts val="200"/>
              </a:spcBef>
              <a:defRPr b="1" sz="2000">
                <a:solidFill>
                  <a:srgbClr val="F8FAFC"/>
                </a:solidFill>
              </a:defRPr>
            </a:pPr>
            <a:r>
              <a:t>130-150 WPM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Monitors speaking rate against competitive speech standards. Calibrated warnings trigger if delivery is rushed (&gt;165 WPM) or sluggish (&lt;115 WPM).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205740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FILLER WORD MITIGATION</a:t>
            </a:r>
          </a:p>
          <a:p>
            <a:pPr>
              <a:spcBef>
                <a:spcPts val="200"/>
              </a:spcBef>
              <a:defRPr b="1" sz="2000">
                <a:solidFill>
                  <a:srgbClr val="F8FAFC"/>
                </a:solidFill>
              </a:defRPr>
            </a:pPr>
            <a:r>
              <a:t>&lt; 2% Density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Real-time tracking of verbal crutches ('um', 'uh', 'you know', 'basically'). Calculates filler frequency index and applies progressive penalty weights.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57800" cy="205740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VOCAL CLARITY INDEX</a:t>
            </a:r>
          </a:p>
          <a:p>
            <a:pPr>
              <a:spcBef>
                <a:spcPts val="200"/>
              </a:spcBef>
              <a:defRPr b="1" sz="2000">
                <a:solidFill>
                  <a:srgbClr val="F8FAFC"/>
                </a:solidFill>
              </a:defRPr>
            </a:pPr>
            <a:r>
              <a:t>0 - 100 Score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Synthesizes cadence consistency, audio pause duration, and diction articulation into an actionable vocal clarity metric.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80"/>
            <a:ext cx="5257800" cy="205740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REAL-TIME AUDIO SPECTRUM</a:t>
            </a:r>
          </a:p>
          <a:p>
            <a:pPr>
              <a:spcBef>
                <a:spcPts val="200"/>
              </a:spcBef>
              <a:defRPr b="1" sz="2000">
                <a:solidFill>
                  <a:srgbClr val="F8FAFC"/>
                </a:solidFill>
              </a:defRPr>
            </a:pPr>
            <a:r>
              <a:t>Live WebAudio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Browser-side audio context analyzer displaying dynamic audio bars, providing instant visual feedback during oral cross-examination.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ROLE TELEMETRY &amp; DATA ARCHITECTURE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Multi-Role LMS &amp; Hybrid Storage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Engineered for strict institutional governance and deep longitudinal student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246888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LEARNER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Debate simulation arena, live audio prosody, historical analytics, targeted practice drills, and self-paced progress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246888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DEBATE COACH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Cohort roster monitoring, student session inspection, asynchronous personalized feedback dispatch, and rubric score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246888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EDUCATOR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Classroom creation, curriculum topic assignments, student enrollment codes, and multi-criteria debate rubric construction.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246888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ADMINISTRATOR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System diagnostic telemetry, platform security audit logs, database connection pooling, and global platform notice broadcast.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HYBRID STORAGE ENGINE: RELATIONAL INTEGRITY + NO-SQL STREAMING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• PostgreSQL / SQLite (ACID Layer): Stores user credentials, role hierarchy, classroom enrollments, rubrics, and diagnostic logs.</a:t>
            </a:r>
            <a:br/>
            <a:r>
              <a:t>• MongoDB Document Store (Streaming Layer): Captures high-throughput JSON debate session transcripts, real-time fallacy logs, and audio metrics.</a:t>
            </a:r>
            <a:br/>
            <a:r>
              <a:t>• Zero Coupling: Even if the document logging layer experiences network latency, relational auth and live debate execution remain 100% online.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USER EXPERIENCE &amp; INTERFACE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Interactive Debate Simulation Terminal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Combining cinematic cyberpunk visual design with instant analytical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Real-Time Typewriter Rebuttals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Opponent argument streams letter-by-letter, simulating realistic human pause and speech tempo to keep users mentally engaged during cross-examination.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44368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54096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Interactive Fallacy Badges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Color-coded badges (e.g. [STRAW MAN], [AD HOMINEM]) flash immediately above arguments with detailed explanations and remediation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59936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9664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Radar Matrix Skill Assessment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Dynamic skill polygon evaluating 5 critical debate competencies: Logical Consistency, Argument Construction, Vocal Pacing, Filler Control, and Rebuttal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75504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8523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One-Click PDF Executive Exports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ReportLab automated PDF generation creates presentation evaluation dossiers and debater report cards with cryptographic timestamps.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ENGINEERING DEEP DIVE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Challenges &amp; Technical Solutions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Solving latency, browser-level audio constraints, and dual-database concurrency.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11D48"/>
                </a:solidFill>
              </a:defRPr>
            </a:pPr>
            <a:r>
              <a:t>CHALLENGE 01</a:t>
            </a:r>
          </a:p>
          <a:p>
            <a:pPr>
              <a:spcBef>
                <a:spcPts val="400"/>
              </a:spcBef>
              <a:defRPr b="1" sz="1500">
                <a:solidFill>
                  <a:srgbClr val="F8FAFC"/>
                </a:solidFill>
              </a:defRPr>
            </a:pPr>
            <a:r>
              <a:t>LLM Inference Turn Latency</a:t>
            </a:r>
          </a:p>
          <a:p>
            <a:pPr>
              <a:spcBef>
                <a:spcPts val="1400"/>
              </a:spcBef>
              <a:defRPr sz="1050">
                <a:solidFill>
                  <a:srgbClr val="94A3B8"/>
                </a:solidFill>
              </a:defRPr>
            </a:pPr>
            <a:r>
              <a:t>Problem: High token generation latency (&gt;2.5s) broke the realistic flow of high-intensity debate rounds.</a:t>
            </a:r>
            <a:br/>
            <a:r>
              <a:t>Solution: Integrated Groq hardware LPU acceleration, dropping response latency below 450ms, with automated fallback to Google Gemini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3832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CHALLENGE 02</a:t>
            </a:r>
          </a:p>
          <a:p>
            <a:pPr>
              <a:spcBef>
                <a:spcPts val="400"/>
              </a:spcBef>
              <a:defRPr b="1" sz="1500">
                <a:solidFill>
                  <a:srgbClr val="F8FAFC"/>
                </a:solidFill>
              </a:defRPr>
            </a:pPr>
            <a:r>
              <a:t>Browser Audio Inconsistencies</a:t>
            </a:r>
          </a:p>
          <a:p>
            <a:pPr>
              <a:spcBef>
                <a:spcPts val="1400"/>
              </a:spcBef>
              <a:defRPr sz="1050">
                <a:solidFill>
                  <a:srgbClr val="94A3B8"/>
                </a:solidFill>
              </a:defRPr>
            </a:pPr>
            <a:r>
              <a:t>Problem: Audio codecs and microphone permissions varied drastically across Chrome, Edge, and mobile browsers.</a:t>
            </a:r>
            <a:br/>
            <a:r>
              <a:t>Solution: Standardized on Web Audio API audio-context buffer streaming with fallback mock-prosody simulations to guarantee graceful degradation.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383280" cy="4389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CHALLENGE 03</a:t>
            </a:r>
          </a:p>
          <a:p>
            <a:pPr>
              <a:spcBef>
                <a:spcPts val="400"/>
              </a:spcBef>
              <a:defRPr b="1" sz="1500">
                <a:solidFill>
                  <a:srgbClr val="F8FAFC"/>
                </a:solidFill>
              </a:defRPr>
            </a:pPr>
            <a:r>
              <a:t>Dual Database Synchronization</a:t>
            </a:r>
          </a:p>
          <a:p>
            <a:pPr>
              <a:spcBef>
                <a:spcPts val="1400"/>
              </a:spcBef>
              <a:defRPr sz="1050">
                <a:solidFill>
                  <a:srgbClr val="94A3B8"/>
                </a:solidFill>
              </a:defRPr>
            </a:pPr>
            <a:r>
              <a:t>Problem: Writing high-volume debate turns across both SQL and MongoDB risked blocking API worker threads.</a:t>
            </a:r>
            <a:br/>
            <a:r>
              <a:t>Solution: Decoupled document transcript logging into non-blocking background routines; database timeouts fail safely without dropping the user session.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// FUTURE ROADMAP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Next-Stage Strategic Enhancements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Expanding from audio-text debate coaching into full multi-modal rhetorical simulation.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01. WebRTC Computer Vision Cues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Integrating MediaPipe visual posture tracking to audit eye contact, nervous hand gestures, and body language during speeches.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44368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54096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02. Tournament Multiplayer Matchmaking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Connecting human debaters in synchronized tournament rooms with an autonomous AI judge awarding speaker points and adjudication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59936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9664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A855F7"/>
                </a:solidFill>
              </a:defRPr>
            </a:pPr>
            <a:r>
              <a:t>03. Fine-Tuned Rhetorical LoRA Models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Training open-weights models specifically on parliamentary debate transcripts (APDA / British Parliamentary formats) for elite competition.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75504"/>
            <a:ext cx="10728655" cy="96012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8523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04. Institutional LMS LTI Integration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Direct gradebook and assignment synchronization with Canvas, Blackboard, and Google Classroom for high schools and universities.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solidFill>
              <a:srgbClr val="0B1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41D33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// PROJECT CONCLUSION &amp; EVALUATION //</a:t>
            </a:r>
          </a:p>
          <a:p>
            <a:pPr>
              <a:spcBef>
                <a:spcPts val="800"/>
              </a:spcBef>
              <a:defRPr b="1" sz="3200">
                <a:solidFill>
                  <a:srgbClr val="F8FAFC"/>
                </a:solidFill>
              </a:defRPr>
            </a:pPr>
            <a:r>
              <a:t>Empowering the Next Generation of Persuasive Thinkers.</a:t>
            </a:r>
          </a:p>
          <a:p>
            <a:pPr>
              <a:spcBef>
                <a:spcPts val="1200"/>
              </a:spcBef>
              <a:defRPr sz="1350">
                <a:solidFill>
                  <a:srgbClr val="94A3B8"/>
                </a:solidFill>
              </a:defRPr>
            </a:pPr>
            <a:r>
              <a:t>LOGOS.AI transforms public speaking and debate education from passive consumption into an active, adversarial mastery loop. By unifying Socratic Opponent Simulations, Real-Time Fallacy Auditing, and Acoustic Delivery Telemetry, speakers develop bulletproof reasoning and commanding stage presence.</a:t>
            </a:r>
          </a:p>
          <a:p>
            <a:pPr>
              <a:spcBef>
                <a:spcPts val="2800"/>
              </a:spcBef>
              <a:defRPr b="1" sz="1800">
                <a:solidFill>
                  <a:srgbClr val="38BDF8"/>
                </a:solidFill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